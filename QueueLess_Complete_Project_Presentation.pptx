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41E32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188720"/>
            <a:ext cx="3108960" cy="347472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8BDF8"/>
                </a:solidFill>
                <a:latin typeface="Segoe UI"/>
              </a:rPr>
              <a:t>FULL-STACK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91640"/>
            <a:ext cx="9784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8FAFC"/>
                </a:solidFill>
                <a:latin typeface="Segoe UI"/>
              </a:rPr>
              <a:t>QueueLess</a:t>
            </a:r>
          </a:p>
          <a:p>
            <a:r>
              <a:rPr sz="2400" b="1">
                <a:solidFill>
                  <a:srgbClr val="38BDF8"/>
                </a:solidFill>
                <a:latin typeface="Segoe UI"/>
              </a:rPr>
              <a:t>Smart Virtual Queue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1089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Segoe UI"/>
              </a:rPr>
              <a:t>A real-time, cloud-native queuing platform engineered to eliminate physical lines in university counters and public service offices through live WebSocket updates, digital token allocation, and dual-backend architecture.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114800"/>
            <a:ext cx="228600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8BDF8"/>
                </a:solidFill>
                <a:latin typeface="Segoe UI"/>
              </a:rPr>
              <a:t>ARCHITECTURE</a:t>
            </a:r>
          </a:p>
          <a:p>
            <a:r>
              <a:rPr sz="1100" b="1">
                <a:solidFill>
                  <a:srgbClr val="F8FAFC"/>
                </a:solidFill>
                <a:latin typeface="Segoe UI"/>
              </a:rPr>
              <a:t>Three-Tier Client-Server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4114800"/>
            <a:ext cx="228600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0B981"/>
                </a:solidFill>
                <a:latin typeface="Segoe UI"/>
              </a:rPr>
              <a:t>WEB STACK</a:t>
            </a:r>
          </a:p>
          <a:p>
            <a:r>
              <a:rPr sz="1100" b="1">
                <a:solidFill>
                  <a:srgbClr val="F8FAFC"/>
                </a:solidFill>
                <a:latin typeface="Segoe UI"/>
              </a:rPr>
              <a:t>MERN + Spring Boot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114800"/>
            <a:ext cx="228600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59E0B"/>
                </a:solidFill>
                <a:latin typeface="Segoe UI"/>
              </a:rPr>
              <a:t>REAL-TIME</a:t>
            </a:r>
          </a:p>
          <a:p>
            <a:r>
              <a:rPr sz="1100" b="1">
                <a:solidFill>
                  <a:srgbClr val="F8FAFC"/>
                </a:solidFill>
                <a:latin typeface="Segoe UI"/>
              </a:rPr>
              <a:t>Socket.IO WebSockets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4114800"/>
            <a:ext cx="228600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8B5CF6"/>
                </a:solidFill>
                <a:latin typeface="Segoe UI"/>
              </a:rPr>
              <a:t>PERSISTENCE</a:t>
            </a:r>
          </a:p>
          <a:p>
            <a:r>
              <a:rPr sz="1100" b="1">
                <a:solidFill>
                  <a:srgbClr val="F8FAFC"/>
                </a:solidFill>
                <a:latin typeface="Segoe UI"/>
              </a:rPr>
              <a:t>MongoDB &amp; H2 / JPA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30352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Segoe UI"/>
              </a:rPr>
              <a:t>Academic Year 2026  |  Full-Stack Web Development  |  Comprehensive Project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PROJECT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Executive Summary &amp; 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QueueLess — Smart Virtual Queue Management System  |  Full-Stack Project Presentation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Slide 2 of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BDF8"/>
                </a:solidFill>
                <a:latin typeface="Segoe UI"/>
              </a:rPr>
              <a:t>🎯 Core Mission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Digitize Waiting Rooms: Transform physical queues into intelligent virtual waiting lines.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Zero-Contact Queuing: Allow students to register and hold their spot remotely from any device.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Wait-Time Transparency: Eliminate uncertainty by displaying real-time live positions and countdown timers.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Operational Efficiency: Equip counter staff with a high-speed token call console.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0020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78308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0B981"/>
                </a:solidFill>
                <a:latin typeface="Segoe UI"/>
              </a:rPr>
              <a:t>⚡ Engineering Highlights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Full-Stack React 18: Modern modular SPA with custom Glassmorphism UI and responsive design.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Dual Backend Architectures: Built both with Node.js/Express (MERN) and Java Spring Boot 3.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Bi-Directional WebSockets: Powered by Socket.IO for instant live queue state broadcasts without polling.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Multi-Tenancy &amp; RBAC: Tiered permissions for Students (User), Operators (Staff), and Administrators.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0020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78308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9E0B"/>
                </a:solidFill>
                <a:latin typeface="Segoe UI"/>
              </a:rPr>
              <a:t>📊 Key Achievements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85% Time Savings: Users only arrive at counters when their token is actively summoned.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Zero Hallway Congestion: Eliminates crowd buildup outside certificate &amp; finance counters.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Reliable Data Consistency: ACID transactional enforcement in Spring Boot and atomic Mongoose updates.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Extensible Architecture: Ready for multi-counter clustering, SMS/WhatsApp gateways, and IoT kiosks.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Problem Statement &amp; Background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QueueLess — Smart Virtual Queue Management System  |  Full-Stack Project Presentation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Slide 3 of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75504" cy="4572000"/>
          </a:xfrm>
          <a:prstGeom prst="roundRect">
            <a:avLst/>
          </a:prstGeom>
          <a:solidFill>
            <a:srgbClr val="1E19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62686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87171"/>
                </a:solidFill>
                <a:latin typeface="Segoe UI"/>
              </a:rPr>
              <a:t>❌ The Legacy Queue Problem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Physical Presence Requirement: Students must physically stand in line for 1 to 3 hours outside campus counters (Accounts, Certificate Desk, IT Helpdesk).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No Wait-Time Estimation: Zero visibility into how long each transaction will take or when the student will be served.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Paper Token Inefficiencies: Paper slips are easily lost, printed wastefully, and do not update if delays occur.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Severe Hallway Congestion: Crowded corridors disrupt adjacent classrooms, creating noise and safety hazards.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Disorganized Service Order: Queue jumping, disputes over position, and frustration for administrative staff.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00200"/>
            <a:ext cx="5175504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1828800"/>
            <a:ext cx="462686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Segoe UI"/>
              </a:rPr>
              <a:t>💡 Motivation for QueueLess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Academic Productivity Loss: Over 15,000+ student hours are wasted annually in routine administrative queues across university departments.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Staff Work Overload: Counter staff face constant interruptions from waiting students asking 'How much longer?'.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Need for Smart Campus Infrastructure: Modern educational institutions require digital, contactless, and student-centric systems.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Data-Driven Resource Planning: Administrators lack operational metrics (e.g., peak rush hours, average service times, counter efficiency).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QueueLess Proposition: A lightweight web application accessible from any smartphone or browser with zero hardware installation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Proposed Solution &amp; Key Value Proposition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QueueLess — Smart Virtual Queue Management System  |  Full-Stack Project Presentation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Slide 4 of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75504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47183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Segoe UI"/>
              </a:rPr>
              <a:t>1. Digital Self-Service Registration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Students join any active departmental counter with a single tap.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Issues standardized prefix tokens: e.g., CERT-001, ACC-004.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Enforces strict 'One Active Ticket' constraint to eliminate queue spamming.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00200"/>
            <a:ext cx="5175504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764792"/>
            <a:ext cx="47183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0B981"/>
                </a:solidFill>
                <a:latin typeface="Segoe UI"/>
              </a:rPr>
              <a:t>2. Real-Time Dynamic Wait Tracking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Live position indicator computes exact number of people ahead.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Predictive algorithm: Wait Time = (Tokens Ahead + 1) * Avg Service Time.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Automatic WebSocket push syncs the countdown instantaneously.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175504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87952"/>
            <a:ext cx="47183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Segoe UI"/>
              </a:rPr>
              <a:t>3. Dedicated Counter Staff Console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Counter operators can click 'Call Next' to summon the next ticket in line.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Handles multi-state ticket transitions: WAITING -&gt; CALLED -&gt; SERVING -&gt; COMPLETED.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Provides instant 'Skip No-Show' action to keep the queue moving smoothly.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4023360"/>
            <a:ext cx="5175504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4187952"/>
            <a:ext cx="47183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5CF6"/>
                </a:solidFill>
                <a:latin typeface="Segoe UI"/>
              </a:rPr>
              <a:t>4. Administrator Oversight &amp; Control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Live dashboard displays real-time counter status (OPEN, CLOSED, PAUSED).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Configurable counter parameters (average service duration, counter locations).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Full auditing and historical analytics for administrative performance reviews.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High-Level System Architecture (Three-Tier Model)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QueueLess — Smart Virtual Queue Management System  |  Full-Stack Project Presentation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Slide 5 of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1036289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TIER 1: PRESENTATION LAYER (Client Browser / SPA)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✔ React 18 Single Page Application (SPA) bundled with Vite.</a:t>
            </a:r>
            <a:r>
              <a:rPr>
                <a:solidFill>
                  <a:srgbClr val="334155"/>
                </a:solidFill>
              </a:rPr>
              <a:t>   |   </a:t>
            </a:r>
            <a:r>
              <a:rPr sz="1000">
                <a:solidFill>
                  <a:srgbClr val="F8FAFC"/>
                </a:solidFill>
                <a:latin typeface="Segoe UI"/>
              </a:rPr>
              <a:t>✔ Context Providers: AuthContext (JWT session), QueueContext (live tickets), ToastContext (alerts).</a:t>
            </a:r>
            <a:r>
              <a:rPr>
                <a:solidFill>
                  <a:srgbClr val="334155"/>
                </a:solidFill>
              </a:rPr>
              <a:t>   |   </a:t>
            </a:r>
            <a:r>
              <a:rPr sz="1000">
                <a:solidFill>
                  <a:srgbClr val="F8FAFC"/>
                </a:solidFill>
                <a:latin typeface="Segoe UI"/>
              </a:rPr>
              <a:t>✔ Glassmorphism UI System: index.css &amp; dashboard.css with responsive flexbox and CSS grids.</a:t>
            </a:r>
            <a:r>
              <a:rPr>
                <a:solidFill>
                  <a:srgbClr val="334155"/>
                </a:solidFill>
              </a:rPr>
              <a:t>   |   </a:t>
            </a:r>
            <a:r>
              <a:rPr sz="1000">
                <a:solidFill>
                  <a:srgbClr val="F8FAFC"/>
                </a:solidFill>
                <a:latin typeface="Segoe UI"/>
              </a:rPr>
              <a:t>✔ Client Socket Connection: socket.io-client listening for broadcast events (tokenCalled, queueUpdated).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10728655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64408"/>
            <a:ext cx="1036289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Segoe UI"/>
              </a:rPr>
              <a:t>TIER 2: APPLICATION &amp; BUSINESS LOGIC LAYER (Server Services)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✔ Node.js Express Server (Port 5000): REST API endpoints &amp; Socket.IO server engine.</a:t>
            </a:r>
            <a:r>
              <a:rPr>
                <a:solidFill>
                  <a:srgbClr val="334155"/>
                </a:solidFill>
              </a:rPr>
              <a:t>   |   </a:t>
            </a:r>
            <a:r>
              <a:rPr sz="1000">
                <a:solidFill>
                  <a:srgbClr val="F8FAFC"/>
                </a:solidFill>
                <a:latin typeface="Segoe UI"/>
              </a:rPr>
              <a:t>✔ Spring Boot 3 Backend Alternative: @RestController, @Service, and @Transactional boundaries.</a:t>
            </a:r>
            <a:r>
              <a:rPr>
                <a:solidFill>
                  <a:srgbClr val="334155"/>
                </a:solidFill>
              </a:rPr>
              <a:t>   |   </a:t>
            </a:r>
            <a:r>
              <a:rPr sz="1000">
                <a:solidFill>
                  <a:srgbClr val="F8FAFC"/>
                </a:solidFill>
                <a:latin typeface="Segoe UI"/>
              </a:rPr>
              <a:t>✔ Business Rule Engine: Desk status validation, single active ticket check, dynamic token numbering.</a:t>
            </a:r>
            <a:r>
              <a:rPr>
                <a:solidFill>
                  <a:srgbClr val="334155"/>
                </a:solidFill>
              </a:rPr>
              <a:t>   |   </a:t>
            </a:r>
            <a:r>
              <a:rPr sz="1000">
                <a:solidFill>
                  <a:srgbClr val="F8FAFC"/>
                </a:solidFill>
                <a:latin typeface="Segoe UI"/>
              </a:rPr>
              <a:t>✔ Security Middleware: JWT verification, Bcrypt password hashing, Helmet, CORS, GlobalExceptionHandler.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09160"/>
            <a:ext cx="10728655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18888"/>
            <a:ext cx="1036289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5CF6"/>
                </a:solidFill>
                <a:latin typeface="Segoe UI"/>
              </a:rPr>
              <a:t>TIER 3: DATA ACCESS &amp; PERSISTENCE LAYER (Databases)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✔ MongoDB Database: Document-based storage with Mongoose ODM schemas (User, Service, Queue).</a:t>
            </a:r>
            <a:r>
              <a:rPr>
                <a:solidFill>
                  <a:srgbClr val="334155"/>
                </a:solidFill>
              </a:rPr>
              <a:t>   |   </a:t>
            </a:r>
            <a:r>
              <a:rPr sz="1000">
                <a:solidFill>
                  <a:srgbClr val="F8FAFC"/>
                </a:solidFill>
                <a:latin typeface="Segoe UI"/>
              </a:rPr>
              <a:t>✔ H2 In-Memory SQL Database: Embedded relational persistence with Spring Data JPA and Hibernate ORM.</a:t>
            </a:r>
            <a:r>
              <a:rPr>
                <a:solidFill>
                  <a:srgbClr val="334155"/>
                </a:solidFill>
              </a:rPr>
              <a:t>   |   </a:t>
            </a:r>
            <a:r>
              <a:rPr sz="1000">
                <a:solidFill>
                  <a:srgbClr val="F8FAFC"/>
                </a:solidFill>
                <a:latin typeface="Segoe UI"/>
              </a:rPr>
              <a:t>✔ Indexing &amp; Optimizations: Unique composite constraints, timestamp indexing, and relational foreign keys.</a:t>
            </a:r>
            <a:r>
              <a:rPr>
                <a:solidFill>
                  <a:srgbClr val="334155"/>
                </a:solidFill>
              </a:rPr>
              <a:t>   |   </a:t>
            </a:r>
            <a:r>
              <a:rPr sz="1000">
                <a:solidFill>
                  <a:srgbClr val="F8FAFC"/>
                </a:solidFill>
                <a:latin typeface="Segoe UI"/>
              </a:rPr>
              <a:t>✔ Atomic Operations: Transactional updates prevent race conditions during concurrent token calls.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TECHNOLOGY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Comprehensive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QueueLess — Smart Virtual Queue Management System  |  Full-Stack Project Presentation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Slide 6 of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783080"/>
            <a:ext cx="2103120" cy="38404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8BDF8"/>
                </a:solidFill>
                <a:latin typeface="Segoe U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38BDF8"/>
                </a:solidFill>
                <a:latin typeface="Segoe UI"/>
              </a:rPr>
              <a:t>Framework:
</a:t>
            </a:r>
            <a:r>
              <a:rPr sz="1100">
                <a:solidFill>
                  <a:srgbClr val="F8FAFC"/>
                </a:solidFill>
                <a:latin typeface="Segoe UI"/>
              </a:rPr>
              <a:t>React 18.3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38BDF8"/>
                </a:solidFill>
                <a:latin typeface="Segoe UI"/>
              </a:rPr>
              <a:t>Build Tool:
</a:t>
            </a:r>
            <a:r>
              <a:rPr sz="1100">
                <a:solidFill>
                  <a:srgbClr val="F8FAFC"/>
                </a:solidFill>
                <a:latin typeface="Segoe UI"/>
              </a:rPr>
              <a:t>Vite 6.0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38BDF8"/>
                </a:solidFill>
                <a:latin typeface="Segoe UI"/>
              </a:rPr>
              <a:t>Routing:
</a:t>
            </a:r>
            <a:r>
              <a:rPr sz="1100">
                <a:solidFill>
                  <a:srgbClr val="F8FAFC"/>
                </a:solidFill>
                <a:latin typeface="Segoe UI"/>
              </a:rPr>
              <a:t>React Router 6.28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38BDF8"/>
                </a:solidFill>
                <a:latin typeface="Segoe UI"/>
              </a:rPr>
              <a:t>State:
</a:t>
            </a:r>
            <a:r>
              <a:rPr sz="1100">
                <a:solidFill>
                  <a:srgbClr val="F8FAFC"/>
                </a:solidFill>
                <a:latin typeface="Segoe UI"/>
              </a:rPr>
              <a:t>React Context API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38BDF8"/>
                </a:solidFill>
                <a:latin typeface="Segoe UI"/>
              </a:rPr>
              <a:t>Real-Time:
</a:t>
            </a:r>
            <a:r>
              <a:rPr sz="1100">
                <a:solidFill>
                  <a:srgbClr val="F8FAFC"/>
                </a:solidFill>
                <a:latin typeface="Segoe UI"/>
              </a:rPr>
              <a:t>Socket.io Client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38BDF8"/>
                </a:solidFill>
                <a:latin typeface="Segoe UI"/>
              </a:rPr>
              <a:t>Icons:
</a:t>
            </a:r>
            <a:r>
              <a:rPr sz="1100">
                <a:solidFill>
                  <a:srgbClr val="F8FAFC"/>
                </a:solidFill>
                <a:latin typeface="Segoe UI"/>
              </a:rPr>
              <a:t>Lucide React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38BDF8"/>
                </a:solidFill>
                <a:latin typeface="Segoe UI"/>
              </a:rPr>
              <a:t>Styles:
</a:t>
            </a:r>
            <a:r>
              <a:rPr sz="1100">
                <a:solidFill>
                  <a:srgbClr val="F8FAFC"/>
                </a:solidFill>
                <a:latin typeface="Segoe UI"/>
              </a:rPr>
              <a:t>CSS3 Glassmorphism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3864" y="160020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66744" y="1783080"/>
            <a:ext cx="2103120" cy="38404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0B981"/>
                </a:solidFill>
                <a:latin typeface="Segoe UI"/>
              </a:rPr>
              <a:t>NODE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233172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Runtime:
</a:t>
            </a:r>
            <a:r>
              <a:rPr sz="1100">
                <a:solidFill>
                  <a:srgbClr val="F8FAFC"/>
                </a:solidFill>
                <a:latin typeface="Segoe UI"/>
              </a:rPr>
              <a:t>Node.js (LTS)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Framework:
</a:t>
            </a:r>
            <a:r>
              <a:rPr sz="1100">
                <a:solidFill>
                  <a:srgbClr val="F8FAFC"/>
                </a:solidFill>
                <a:latin typeface="Segoe UI"/>
              </a:rPr>
              <a:t>Express 5.2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WebSockets:
</a:t>
            </a:r>
            <a:r>
              <a:rPr sz="1100">
                <a:solidFill>
                  <a:srgbClr val="F8FAFC"/>
                </a:solidFill>
                <a:latin typeface="Segoe UI"/>
              </a:rPr>
              <a:t>Socket.IO 4.8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Security:
</a:t>
            </a:r>
            <a:r>
              <a:rPr sz="1100">
                <a:solidFill>
                  <a:srgbClr val="F8FAFC"/>
                </a:solidFill>
                <a:latin typeface="Segoe UI"/>
              </a:rPr>
              <a:t>Helmet 8.3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Auth:
</a:t>
            </a:r>
            <a:r>
              <a:rPr sz="1100">
                <a:solidFill>
                  <a:srgbClr val="F8FAFC"/>
                </a:solidFill>
                <a:latin typeface="Segoe UI"/>
              </a:rPr>
              <a:t>JWT (jsonwebtoken)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Encryption:
</a:t>
            </a:r>
            <a:r>
              <a:rPr sz="1100">
                <a:solidFill>
                  <a:srgbClr val="F8FAFC"/>
                </a:solidFill>
                <a:latin typeface="Segoe UI"/>
              </a:rPr>
              <a:t>bcryptjs 3.0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Logging:
</a:t>
            </a:r>
            <a:r>
              <a:rPr sz="1100">
                <a:solidFill>
                  <a:srgbClr val="F8FAFC"/>
                </a:solidFill>
                <a:latin typeface="Segoe UI"/>
              </a:rPr>
              <a:t>Morgan dev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60020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19088" y="1783080"/>
            <a:ext cx="2103120" cy="38404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SPRING BOOT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3172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F59E0B"/>
                </a:solidFill>
                <a:latin typeface="Segoe UI"/>
              </a:rPr>
              <a:t>Framework:
</a:t>
            </a:r>
            <a:r>
              <a:rPr sz="1100">
                <a:solidFill>
                  <a:srgbClr val="F8FAFC"/>
                </a:solidFill>
                <a:latin typeface="Segoe UI"/>
              </a:rPr>
              <a:t>Spring Boot 3.3.4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F59E0B"/>
                </a:solidFill>
                <a:latin typeface="Segoe UI"/>
              </a:rPr>
              <a:t>Language:
</a:t>
            </a:r>
            <a:r>
              <a:rPr sz="1100">
                <a:solidFill>
                  <a:srgbClr val="F8FAFC"/>
                </a:solidFill>
                <a:latin typeface="Segoe UI"/>
              </a:rPr>
              <a:t>Java 17 / 21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F59E0B"/>
                </a:solidFill>
                <a:latin typeface="Segoe UI"/>
              </a:rPr>
              <a:t>Data Access:
</a:t>
            </a:r>
            <a:r>
              <a:rPr sz="1100">
                <a:solidFill>
                  <a:srgbClr val="F8FAFC"/>
                </a:solidFill>
                <a:latin typeface="Segoe UI"/>
              </a:rPr>
              <a:t>Spring Data JPA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F59E0B"/>
                </a:solidFill>
                <a:latin typeface="Segoe UI"/>
              </a:rPr>
              <a:t>ORM:
</a:t>
            </a:r>
            <a:r>
              <a:rPr sz="1100">
                <a:solidFill>
                  <a:srgbClr val="F8FAFC"/>
                </a:solidFill>
                <a:latin typeface="Segoe UI"/>
              </a:rPr>
              <a:t>Hibernate 6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F59E0B"/>
                </a:solidFill>
                <a:latin typeface="Segoe UI"/>
              </a:rPr>
              <a:t>Testing:
</a:t>
            </a:r>
            <a:r>
              <a:rPr sz="1100">
                <a:solidFill>
                  <a:srgbClr val="F8FAFC"/>
                </a:solidFill>
                <a:latin typeface="Segoe UI"/>
              </a:rPr>
              <a:t>JUnit 5 &amp; Mockito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F59E0B"/>
                </a:solidFill>
                <a:latin typeface="Segoe UI"/>
              </a:rPr>
              <a:t>Architecture:
</a:t>
            </a:r>
            <a:r>
              <a:rPr sz="1100">
                <a:solidFill>
                  <a:srgbClr val="F8FAFC"/>
                </a:solidFill>
                <a:latin typeface="Segoe UI"/>
              </a:rPr>
              <a:t>Controller/Service/Repo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F59E0B"/>
                </a:solidFill>
                <a:latin typeface="Segoe UI"/>
              </a:rPr>
              <a:t>Build Tool:
</a:t>
            </a:r>
            <a:r>
              <a:rPr sz="1100">
                <a:solidFill>
                  <a:srgbClr val="F8FAFC"/>
                </a:solidFill>
                <a:latin typeface="Segoe UI"/>
              </a:rPr>
              <a:t>Apache Maven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8552" y="160020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71432" y="1783080"/>
            <a:ext cx="2103120" cy="38404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8B5CF6"/>
                </a:solidFill>
                <a:latin typeface="Segoe UI"/>
              </a:rPr>
              <a:t>DATABASE &amp; DEV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233172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 b="1">
                <a:solidFill>
                  <a:srgbClr val="8B5CF6"/>
                </a:solidFill>
                <a:latin typeface="Segoe UI"/>
              </a:rPr>
              <a:t>Primary DB:
</a:t>
            </a:r>
            <a:r>
              <a:rPr sz="1100">
                <a:solidFill>
                  <a:srgbClr val="F8FAFC"/>
                </a:solidFill>
                <a:latin typeface="Segoe UI"/>
              </a:rPr>
              <a:t>MongoDB 7.0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8B5CF6"/>
                </a:solidFill>
                <a:latin typeface="Segoe UI"/>
              </a:rPr>
              <a:t>ODM:
</a:t>
            </a:r>
            <a:r>
              <a:rPr sz="1100">
                <a:solidFill>
                  <a:srgbClr val="F8FAFC"/>
                </a:solidFill>
                <a:latin typeface="Segoe UI"/>
              </a:rPr>
              <a:t>Mongoose 9.9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8B5CF6"/>
                </a:solidFill>
                <a:latin typeface="Segoe UI"/>
              </a:rPr>
              <a:t>Embedded DB:
</a:t>
            </a:r>
            <a:r>
              <a:rPr sz="1100">
                <a:solidFill>
                  <a:srgbClr val="F8FAFC"/>
                </a:solidFill>
                <a:latin typeface="Segoe UI"/>
              </a:rPr>
              <a:t>H2 In-Memory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8B5CF6"/>
                </a:solidFill>
                <a:latin typeface="Segoe UI"/>
              </a:rPr>
              <a:t>Dev Server:
</a:t>
            </a:r>
            <a:r>
              <a:rPr sz="1100">
                <a:solidFill>
                  <a:srgbClr val="F8FAFC"/>
                </a:solidFill>
                <a:latin typeface="Segoe UI"/>
              </a:rPr>
              <a:t>Nodemon &amp; Concurrently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8B5CF6"/>
                </a:solidFill>
                <a:latin typeface="Segoe UI"/>
              </a:rPr>
              <a:t>API Client:
</a:t>
            </a:r>
            <a:r>
              <a:rPr sz="1100">
                <a:solidFill>
                  <a:srgbClr val="F8FAFC"/>
                </a:solidFill>
                <a:latin typeface="Segoe UI"/>
              </a:rPr>
              <a:t>Postman / cURL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8B5CF6"/>
                </a:solidFill>
                <a:latin typeface="Segoe UI"/>
              </a:rPr>
              <a:t>Version Control:
</a:t>
            </a:r>
            <a:r>
              <a:rPr sz="1100">
                <a:solidFill>
                  <a:srgbClr val="F8FAFC"/>
                </a:solidFill>
                <a:latin typeface="Segoe UI"/>
              </a:rPr>
              <a:t>Git &amp; GitHub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8B5CF6"/>
                </a:solidFill>
                <a:latin typeface="Segoe UI"/>
              </a:rPr>
              <a:t>Platform:
</a:t>
            </a:r>
            <a:r>
              <a:rPr sz="1100">
                <a:solidFill>
                  <a:srgbClr val="F8FAFC"/>
                </a:solidFill>
                <a:latin typeface="Segoe UI"/>
              </a:rPr>
              <a:t>Cross-Platform (Win/Linux)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BACKEND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Dual-Backend Engineering: Node.js vs. Spring Boot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QueueLess — Smart Virtual Queue Management System  |  Full-Stack Project Presentation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Slide 7 of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75504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71830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0B981"/>
                </a:solidFill>
                <a:latin typeface="Segoe UI"/>
              </a:rPr>
              <a:t>🟢 Node.js + Express.js + Socket.IO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38BDF8"/>
                </a:solidFill>
                <a:latin typeface="Segoe UI"/>
              </a:rPr>
              <a:t>• Design Paradigm: </a:t>
            </a:r>
            <a:r>
              <a:rPr sz="1050">
                <a:solidFill>
                  <a:srgbClr val="F8FAFC"/>
                </a:solidFill>
                <a:latin typeface="Segoe UI"/>
              </a:rPr>
              <a:t>Event-driven, asynchronous non-blocking I/O runtime.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38BDF8"/>
                </a:solidFill>
                <a:latin typeface="Segoe UI"/>
              </a:rPr>
              <a:t>• Real-Time Engine: </a:t>
            </a:r>
            <a:r>
              <a:rPr sz="1050">
                <a:solidFill>
                  <a:srgbClr val="F8FAFC"/>
                </a:solidFill>
                <a:latin typeface="Segoe UI"/>
              </a:rPr>
              <a:t>Socket.IO natively integrated directly into the HTTP server.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38BDF8"/>
                </a:solidFill>
                <a:latin typeface="Segoe UI"/>
              </a:rPr>
              <a:t>• Data Persistence: </a:t>
            </a:r>
            <a:r>
              <a:rPr sz="1050">
                <a:solidFill>
                  <a:srgbClr val="F8FAFC"/>
                </a:solidFill>
                <a:latin typeface="Segoe UI"/>
              </a:rPr>
              <a:t>MongoDB Document store with flexible Mongoose schema validation.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38BDF8"/>
                </a:solidFill>
                <a:latin typeface="Segoe UI"/>
              </a:rPr>
              <a:t>• Key Advantage: </a:t>
            </a:r>
            <a:r>
              <a:rPr sz="1050">
                <a:solidFill>
                  <a:srgbClr val="F8FAFC"/>
                </a:solidFill>
                <a:latin typeface="Segoe UI"/>
              </a:rPr>
              <a:t>Ultra-fast JSON parsing, lightweight memory footprint, instantaneous broadcast latency (&lt;20ms).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38BDF8"/>
                </a:solidFill>
                <a:latin typeface="Segoe UI"/>
              </a:rPr>
              <a:t>• Controllers: </a:t>
            </a:r>
            <a:r>
              <a:rPr sz="1050">
                <a:solidFill>
                  <a:srgbClr val="F8FAFC"/>
                </a:solidFill>
                <a:latin typeface="Segoe UI"/>
              </a:rPr>
              <a:t>authController.js, queueController.js, serviceController.js using async/await and catchAsync error wrapper.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38BDF8"/>
                </a:solidFill>
                <a:latin typeface="Segoe UI"/>
              </a:rPr>
              <a:t>• Authentication: </a:t>
            </a:r>
            <a:r>
              <a:rPr sz="1050">
                <a:solidFill>
                  <a:srgbClr val="F8FAFC"/>
                </a:solidFill>
                <a:latin typeface="Segoe UI"/>
              </a:rPr>
              <a:t>JWT signed tokens stored in secure HTTP-only cookies.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00200"/>
            <a:ext cx="5175504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783080"/>
            <a:ext cx="471830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9E0B"/>
                </a:solidFill>
                <a:latin typeface="Segoe UI"/>
              </a:rPr>
              <a:t>🍃 Java Spring Boot 3 + Spring Data JPA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  <a:latin typeface="Segoe UI"/>
              </a:rPr>
              <a:t>• Design Paradigm: </a:t>
            </a:r>
            <a:r>
              <a:rPr sz="1050">
                <a:solidFill>
                  <a:srgbClr val="F8FAFC"/>
                </a:solidFill>
                <a:latin typeface="Segoe UI"/>
              </a:rPr>
              <a:t>Strict enterprise Three-Tier Architecture (Controller -&gt; Service -&gt; Repository).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  <a:latin typeface="Segoe UI"/>
              </a:rPr>
              <a:t>• Data Access: </a:t>
            </a:r>
            <a:r>
              <a:rPr sz="1050">
                <a:solidFill>
                  <a:srgbClr val="F8FAFC"/>
                </a:solidFill>
                <a:latin typeface="Segoe UI"/>
              </a:rPr>
              <a:t>Hibernate 6 ORM with Spring Data JpaRepository and typed JPQL.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  <a:latin typeface="Segoe UI"/>
              </a:rPr>
              <a:t>• Data Persistence: </a:t>
            </a:r>
            <a:r>
              <a:rPr sz="1050">
                <a:solidFill>
                  <a:srgbClr val="F8FAFC"/>
                </a:solidFill>
                <a:latin typeface="Segoe UI"/>
              </a:rPr>
              <a:t>Embedded H2 in-memory relational database (queuelessdb) with SQL console.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  <a:latin typeface="Segoe UI"/>
              </a:rPr>
              <a:t>• Key Advantage: </a:t>
            </a:r>
            <a:r>
              <a:rPr sz="1050">
                <a:solidFill>
                  <a:srgbClr val="F8FAFC"/>
                </a:solidFill>
                <a:latin typeface="Segoe UI"/>
              </a:rPr>
              <a:t>Compile-time type safety, declarative @Transactional rollback, structured DTO encapsulation.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  <a:latin typeface="Segoe UI"/>
              </a:rPr>
              <a:t>• Exception Handling: </a:t>
            </a:r>
            <a:r>
              <a:rPr sz="1050">
                <a:solidFill>
                  <a:srgbClr val="F8FAFC"/>
                </a:solidFill>
                <a:latin typeface="Segoe UI"/>
              </a:rPr>
              <a:t>@RestControllerAdvice with GlobalExceptionHandler catching domain QueueException.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59E0B"/>
                </a:solidFill>
                <a:latin typeface="Segoe UI"/>
              </a:rPr>
              <a:t>• Testability: </a:t>
            </a:r>
            <a:r>
              <a:rPr sz="1050">
                <a:solidFill>
                  <a:srgbClr val="F8FAFC"/>
                </a:solidFill>
                <a:latin typeface="Segoe UI"/>
              </a:rPr>
              <a:t>Comprehensive JUnit 5 &amp; Mockito test suite for automated business rule verification.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FILE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Complete Project &amp; Directory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QueueLess — Smart Virtual Queue Management System  |  Full-Stack Project Presentation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Slide 8 of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0540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Segoe UI"/>
              </a:rPr>
              <a:t>📁 client/ (React 18 Frontend)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6B6D4"/>
                </a:solidFill>
                <a:latin typeface="Segoe UI"/>
              </a:rPr>
              <a:t>src/pages/: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LandingPage.jsx (Welcome &amp; Hero)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LoginPage.jsx &amp; RegisterPage.jsx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DashboardPage.jsx (User Portal)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QueueTrackPage.jsx (Live Tracker)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ServicesPage.jsx (Service Catalog)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StaffPage.jsx (Counter Console)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AdminPage.jsx (Management)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ProfilePage.jsx (User History)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6B6D4"/>
                </a:solidFill>
                <a:latin typeface="Segoe UI"/>
              </a:rPr>
              <a:t>src/components/: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Navbar, Sidebar, StatCard, Modal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6B6D4"/>
                </a:solidFill>
                <a:latin typeface="Segoe UI"/>
              </a:rPr>
              <a:t>src/context/: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AuthContext, QueueContext, ToastContext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6B6D4"/>
                </a:solidFill>
                <a:latin typeface="Segoe UI"/>
              </a:rPr>
              <a:t>src/services/: api.js, socket.js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0020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737360"/>
            <a:ext cx="30540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0B981"/>
                </a:solidFill>
                <a:latin typeface="Segoe UI"/>
              </a:rPr>
              <a:t>📁 server/ (Node Backend)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0B981"/>
                </a:solidFill>
                <a:latin typeface="Segoe UI"/>
              </a:rPr>
              <a:t>server.js (HTTP + Socket.IO server)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0B981"/>
                </a:solidFill>
                <a:latin typeface="Segoe UI"/>
              </a:rPr>
              <a:t>config/: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db.js (Mongoose connection)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0B981"/>
                </a:solidFill>
                <a:latin typeface="Segoe UI"/>
              </a:rPr>
              <a:t>models/: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User.js (Auth &amp; RBAC Schema)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Service.js (Counter metadata)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Queue.js (Token lifecycle)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0B981"/>
                </a:solidFill>
                <a:latin typeface="Segoe UI"/>
              </a:rPr>
              <a:t>controllers/: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authController.js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queueController.js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serviceController.js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0B981"/>
                </a:solidFill>
                <a:latin typeface="Segoe UI"/>
              </a:rPr>
              <a:t>routes/: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authRoutes.js, queueRoutes.js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serviceRoutes.js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0B981"/>
                </a:solidFill>
                <a:latin typeface="Segoe UI"/>
              </a:rPr>
              <a:t>middleware/: auth.js, error.js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0B981"/>
                </a:solidFill>
                <a:latin typeface="Segoe UI"/>
              </a:rPr>
              <a:t>utils/: AppError.js, catchAsync.js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0020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1737360"/>
            <a:ext cx="30540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Segoe UI"/>
              </a:rPr>
              <a:t>📁 queueless-springboot/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59E0B"/>
                </a:solidFill>
                <a:latin typeface="Segoe UI"/>
              </a:rPr>
              <a:t>pom.xml (Spring Boot 3.3.4 &amp; JPA)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59E0B"/>
                </a:solidFill>
                <a:latin typeface="Segoe UI"/>
              </a:rPr>
              <a:t>src/main/java/com/queueless/: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QueueLessApplication.java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controller/ (QueueController)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service/ (QueueServiceImpl)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repository/ (QueueRepository)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model/ (ServiceDesk, QueueTicket)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dto/ (JoinQueueRequest, DTOs)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exception/ (GlobalExceptionHandler)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59E0B"/>
                </a:solidFill>
                <a:latin typeface="Segoe UI"/>
              </a:rPr>
              <a:t>src/main/resources/: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application.properties (H2 DB)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59E0B"/>
                </a:solidFill>
                <a:latin typeface="Segoe UI"/>
              </a:rPr>
              <a:t>src/test/java/: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QueueServiceTest.java (Mockito)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F8FAFC"/>
                </a:solidFill>
                <a:latin typeface="Consolas"/>
              </a:rPr>
              <a:t>  • QueueLessApplicationTests.java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Database Architecture: MongoDB Mongoose Schemas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QueueLess — Smart Virtual Queue Management System  |  Full-Stack Project Presentation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Slide 9 of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8BDF8"/>
                </a:solidFill>
                <a:latin typeface="Segoe UI"/>
              </a:rPr>
              <a:t>👤 User Schema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6B6D4"/>
                </a:solidFill>
                <a:latin typeface="Segoe UI"/>
              </a:rPr>
              <a:t>_id (ObjectId): </a:t>
            </a:r>
            <a:r>
              <a:rPr sz="950">
                <a:solidFill>
                  <a:srgbClr val="F8FAFC"/>
                </a:solidFill>
                <a:latin typeface="Segoe UI"/>
              </a:rPr>
              <a:t>Unique identifier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6B6D4"/>
                </a:solidFill>
                <a:latin typeface="Segoe UI"/>
              </a:rPr>
              <a:t>name (String): </a:t>
            </a:r>
            <a:r>
              <a:rPr sz="950">
                <a:solidFill>
                  <a:srgbClr val="F8FAFC"/>
                </a:solidFill>
                <a:latin typeface="Segoe UI"/>
              </a:rPr>
              <a:t>Full student/user name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6B6D4"/>
                </a:solidFill>
                <a:latin typeface="Segoe UI"/>
              </a:rPr>
              <a:t>email (String): </a:t>
            </a:r>
            <a:r>
              <a:rPr sz="950">
                <a:solidFill>
                  <a:srgbClr val="F8FAFC"/>
                </a:solidFill>
                <a:latin typeface="Segoe UI"/>
              </a:rPr>
              <a:t>Unique university email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6B6D4"/>
                </a:solidFill>
                <a:latin typeface="Segoe UI"/>
              </a:rPr>
              <a:t>studentId (String): </a:t>
            </a:r>
            <a:r>
              <a:rPr sz="950">
                <a:solidFill>
                  <a:srgbClr val="F8FAFC"/>
                </a:solidFill>
                <a:latin typeface="Segoe UI"/>
              </a:rPr>
              <a:t>Unique institutional ID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6B6D4"/>
                </a:solidFill>
                <a:latin typeface="Segoe UI"/>
              </a:rPr>
              <a:t>phone (String): </a:t>
            </a:r>
            <a:r>
              <a:rPr sz="950">
                <a:solidFill>
                  <a:srgbClr val="F8FAFC"/>
                </a:solidFill>
                <a:latin typeface="Segoe UI"/>
              </a:rPr>
              <a:t>Contact phone number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6B6D4"/>
                </a:solidFill>
                <a:latin typeface="Segoe UI"/>
              </a:rPr>
              <a:t>password (String): </a:t>
            </a:r>
            <a:r>
              <a:rPr sz="950">
                <a:solidFill>
                  <a:srgbClr val="F8FAFC"/>
                </a:solidFill>
                <a:latin typeface="Segoe UI"/>
              </a:rPr>
              <a:t>bcrypt hash (cost 12, select:false)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6B6D4"/>
                </a:solidFill>
                <a:latin typeface="Segoe UI"/>
              </a:rPr>
              <a:t>role (Enum): </a:t>
            </a:r>
            <a:r>
              <a:rPr sz="950">
                <a:solidFill>
                  <a:srgbClr val="F8FAFC"/>
                </a:solidFill>
                <a:latin typeface="Segoe UI"/>
              </a:rPr>
              <a:t>['USER', 'STAFF', 'ADMIN']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6B6D4"/>
                </a:solidFill>
                <a:latin typeface="Segoe UI"/>
              </a:rPr>
              <a:t>isActive (Boolean): </a:t>
            </a:r>
            <a:r>
              <a:rPr sz="950">
                <a:solidFill>
                  <a:srgbClr val="F8FAFC"/>
                </a:solidFill>
                <a:latin typeface="Segoe UI"/>
              </a:rPr>
              <a:t>Account status flag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6B6D4"/>
                </a:solidFill>
                <a:latin typeface="Segoe UI"/>
              </a:rPr>
              <a:t>timestamps (Date): </a:t>
            </a:r>
            <a:r>
              <a:rPr sz="950">
                <a:solidFill>
                  <a:srgbClr val="F8FAFC"/>
                </a:solidFill>
                <a:latin typeface="Segoe UI"/>
              </a:rPr>
              <a:t>createdAt &amp; updatedAt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0020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73736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B981"/>
                </a:solidFill>
                <a:latin typeface="Segoe UI"/>
              </a:rPr>
              <a:t>🏢 Service Schema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_id (ObjectId): </a:t>
            </a:r>
            <a:r>
              <a:rPr sz="950">
                <a:solidFill>
                  <a:srgbClr val="F8FAFC"/>
                </a:solidFill>
                <a:latin typeface="Segoe UI"/>
              </a:rPr>
              <a:t>Unique service ID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name (String): </a:t>
            </a:r>
            <a:r>
              <a:rPr sz="950">
                <a:solidFill>
                  <a:srgbClr val="F8FAFC"/>
                </a:solidFill>
                <a:latin typeface="Segoe UI"/>
              </a:rPr>
              <a:t>Unique e.g. 'Certificate Office'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prefix (String): </a:t>
            </a:r>
            <a:r>
              <a:rPr sz="950">
                <a:solidFill>
                  <a:srgbClr val="F8FAFC"/>
                </a:solidFill>
                <a:latin typeface="Segoe UI"/>
              </a:rPr>
              <a:t>Uppercase tag: 'CERT', 'ACC'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description (String): </a:t>
            </a:r>
            <a:r>
              <a:rPr sz="950">
                <a:solidFill>
                  <a:srgbClr val="F8FAFC"/>
                </a:solidFill>
                <a:latin typeface="Segoe UI"/>
              </a:rPr>
              <a:t>Counter services detail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location (String): </a:t>
            </a:r>
            <a:r>
              <a:rPr sz="950">
                <a:solidFill>
                  <a:srgbClr val="F8FAFC"/>
                </a:solidFill>
                <a:latin typeface="Segoe UI"/>
              </a:rPr>
              <a:t>Physical desk location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counterNumber (String): </a:t>
            </a:r>
            <a:r>
              <a:rPr sz="950">
                <a:solidFill>
                  <a:srgbClr val="F8FAFC"/>
                </a:solidFill>
                <a:latin typeface="Segoe UI"/>
              </a:rPr>
              <a:t>Assigned desk number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averageServiceTime (Number): </a:t>
            </a:r>
            <a:r>
              <a:rPr sz="950">
                <a:solidFill>
                  <a:srgbClr val="F8FAFC"/>
                </a:solidFill>
                <a:latin typeface="Segoe UI"/>
              </a:rPr>
              <a:t>Minutes per student (min: 1)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status (Enum): </a:t>
            </a:r>
            <a:r>
              <a:rPr sz="950">
                <a:solidFill>
                  <a:srgbClr val="F8FAFC"/>
                </a:solidFill>
                <a:latin typeface="Segoe UI"/>
              </a:rPr>
              <a:t>['OPEN', 'CLOSED', 'PAUSED']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0B981"/>
                </a:solidFill>
                <a:latin typeface="Segoe UI"/>
              </a:rPr>
              <a:t>timestamps (Date): </a:t>
            </a:r>
            <a:r>
              <a:rPr sz="950">
                <a:solidFill>
                  <a:srgbClr val="F8FAFC"/>
                </a:solidFill>
                <a:latin typeface="Segoe UI"/>
              </a:rPr>
              <a:t>Auto createdAt &amp; updatedAt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0020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73736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9E0B"/>
                </a:solidFill>
                <a:latin typeface="Segoe UI"/>
              </a:rPr>
              <a:t>🎫 Queue Schema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59E0B"/>
                </a:solidFill>
                <a:latin typeface="Segoe UI"/>
              </a:rPr>
              <a:t>_id (ObjectId): </a:t>
            </a:r>
            <a:r>
              <a:rPr sz="950">
                <a:solidFill>
                  <a:srgbClr val="F8FAFC"/>
                </a:solidFill>
                <a:latin typeface="Segoe UI"/>
              </a:rPr>
              <a:t>Ticket unique identifier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59E0B"/>
                </a:solidFill>
                <a:latin typeface="Segoe UI"/>
              </a:rPr>
              <a:t>serviceId (Ref ObjectId): </a:t>
            </a:r>
            <a:r>
              <a:rPr sz="950">
                <a:solidFill>
                  <a:srgbClr val="F8FAFC"/>
                </a:solidFill>
                <a:latin typeface="Segoe UI"/>
              </a:rPr>
              <a:t>Foreign Key -&gt; Service model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59E0B"/>
                </a:solidFill>
                <a:latin typeface="Segoe UI"/>
              </a:rPr>
              <a:t>userId (Ref ObjectId): </a:t>
            </a:r>
            <a:r>
              <a:rPr sz="950">
                <a:solidFill>
                  <a:srgbClr val="F8FAFC"/>
                </a:solidFill>
                <a:latin typeface="Segoe UI"/>
              </a:rPr>
              <a:t>Foreign Key -&gt; User model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59E0B"/>
                </a:solidFill>
                <a:latin typeface="Segoe UI"/>
              </a:rPr>
              <a:t>tokenNumber (String): </a:t>
            </a:r>
            <a:r>
              <a:rPr sz="950">
                <a:solidFill>
                  <a:srgbClr val="F8FAFC"/>
                </a:solidFill>
                <a:latin typeface="Segoe UI"/>
              </a:rPr>
              <a:t>Formatted string: 'CERT-003'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59E0B"/>
                </a:solidFill>
                <a:latin typeface="Segoe UI"/>
              </a:rPr>
              <a:t>status (Enum): </a:t>
            </a:r>
            <a:r>
              <a:rPr sz="950">
                <a:solidFill>
                  <a:srgbClr val="F8FAFC"/>
                </a:solidFill>
                <a:latin typeface="Segoe UI"/>
              </a:rPr>
              <a:t>['WAITING','CALLED','SERVING','COMPLETED','SKIPPED','CANCELLED']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59E0B"/>
                </a:solidFill>
                <a:latin typeface="Segoe UI"/>
              </a:rPr>
              <a:t>joinedAt (Date): </a:t>
            </a:r>
            <a:r>
              <a:rPr sz="950">
                <a:solidFill>
                  <a:srgbClr val="F8FAFC"/>
                </a:solidFill>
                <a:latin typeface="Segoe UI"/>
              </a:rPr>
              <a:t>Creation timestamp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59E0B"/>
                </a:solidFill>
                <a:latin typeface="Segoe UI"/>
              </a:rPr>
              <a:t>calledAt (Date): </a:t>
            </a:r>
            <a:r>
              <a:rPr sz="950">
                <a:solidFill>
                  <a:srgbClr val="F8FAFC"/>
                </a:solidFill>
                <a:latin typeface="Segoe UI"/>
              </a:rPr>
              <a:t>Timestamp when staff called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59E0B"/>
                </a:solidFill>
                <a:latin typeface="Segoe UI"/>
              </a:rPr>
              <a:t>completedAt (Date): </a:t>
            </a:r>
            <a:r>
              <a:rPr sz="950">
                <a:solidFill>
                  <a:srgbClr val="F8FAFC"/>
                </a:solidFill>
                <a:latin typeface="Segoe UI"/>
              </a:rPr>
              <a:t>Completion timestamp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59E0B"/>
                </a:solidFill>
                <a:latin typeface="Segoe UI"/>
              </a:rPr>
              <a:t>estimatedWait (Number): </a:t>
            </a:r>
            <a:r>
              <a:rPr sz="950">
                <a:solidFill>
                  <a:srgbClr val="F8FAFC"/>
                </a:solidFill>
                <a:latin typeface="Segoe UI"/>
              </a:rPr>
              <a:t>Calculated waiting minutes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59E0B"/>
                </a:solidFill>
                <a:latin typeface="Segoe UI"/>
              </a:rPr>
              <a:t>position (Number): </a:t>
            </a:r>
            <a:r>
              <a:rPr sz="950">
                <a:solidFill>
                  <a:srgbClr val="F8FAFC"/>
                </a:solidFill>
                <a:latin typeface="Segoe UI"/>
              </a:rPr>
              <a:t>Dynamic rank in queue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RELATIONAL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Spring Boot JPA Entity Model &amp; Relational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QueueLess — Smart Virtual Queue Management System  |  Full-Stack Project Presentation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Slide 10 of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75504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71830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BDF8"/>
                </a:solidFill>
                <a:latin typeface="Segoe UI"/>
              </a:rPr>
              <a:t>🏛️ Entity: ServiceDesk (@Entity)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Consolas"/>
              </a:rPr>
              <a:t>• @Id @GeneratedValue(strategy = IDENTITY) Long id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Consolas"/>
              </a:rPr>
              <a:t>• @Column(nullable = false, unique = true) String name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Consolas"/>
              </a:rPr>
              <a:t>• @Column(nullable = false, length = 10) String prefix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Consolas"/>
              </a:rPr>
              <a:t>• String counterNumber &amp; String location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Consolas"/>
              </a:rPr>
              <a:t>• Integer averageServiceTimeMinutes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Consolas"/>
              </a:rPr>
              <a:t>• @Enumerated(EnumType.STRING) ServiceStatus status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Consolas"/>
              </a:rPr>
              <a:t>• @OneToMany(mappedBy = 'serviceDesk', cascade = ALL) List&lt;QueueTicket&gt; tickets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Consolas"/>
              </a:rPr>
              <a:t>• LocalDateTime createdAt &amp; LocalDateTime updatedAt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00200"/>
            <a:ext cx="5175504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783080"/>
            <a:ext cx="471830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0B981"/>
                </a:solidFill>
                <a:latin typeface="Segoe UI"/>
              </a:rPr>
              <a:t>🎫 Entity: QueueTicket (@Entity)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Consolas"/>
              </a:rPr>
              <a:t>• @Id @GeneratedValue(strategy = IDENTITY) Long id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Consolas"/>
              </a:rPr>
              <a:t>• @Column(nullable = false, unique = true) String tokenNumber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Consolas"/>
              </a:rPr>
              <a:t>• String studentId &amp; String studentName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Consolas"/>
              </a:rPr>
              <a:t>• @ManyToOne(fetch = FetchType.LAZY) @JoinColumn(name = 'service_desk_id')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Consolas"/>
              </a:rPr>
              <a:t>• @Enumerated(EnumType.STRING) QueueStatus status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Consolas"/>
              </a:rPr>
              <a:t>• Integer position &amp; Integer estimatedWaitMinutes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Consolas"/>
              </a:rPr>
              <a:t>• LocalDateTime joinedAt, calledAt, completedAt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F8FAFC"/>
                </a:solidFill>
                <a:latin typeface="Consolas"/>
              </a:rPr>
              <a:t>• Enforces Foreign Key constraint &amp; CASCADE integrity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BUSINESS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Core Algorithms &amp; Business Rule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QueueLess — Smart Virtual Queue Management System  |  Full-Stack Project Presentation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Slide 11 of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75504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47183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Algorithm 1: Sequential Token Generation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Query all tickets created today for the specific service counter: countDocuments({ serviceId, createdAt: &gt;= startOfDay }).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Calculate next sequence: nextNumber = totalToday + 1.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Format token with fixed padding: prefix + '-' + padStart(nextNumber, 3, '0') -&gt; 'CERT-007'.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Ensures token numbers reset cleanly each operating day while preserving historical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00200"/>
            <a:ext cx="5175504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764792"/>
            <a:ext cx="47183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Segoe UI"/>
              </a:rPr>
              <a:t>Algorithm 2: Dynamic Position &amp; Wait Estimation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Calculate active pending users: peopleAhead = countDocuments({ serviceId, status: ['WAITING', 'CALLED'] }).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Calculate user position: position = peopleAhead + 1.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Formula for estimated wait time: estimatedWait = position * service.averageServiceTime (in mins).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Live recalculation occurs each time a token ahead is called or marked completed.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175504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87952"/>
            <a:ext cx="47183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Segoe UI"/>
              </a:rPr>
              <a:t>Business Rule: Single Active Ticket Constraint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When a user attempts to join a queue: verify whether Queue.findOne({ userId, status: ['WAITING','CALLED','SERVING'] }) exists.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If an active ticket is found: immediately abort transaction and reject with HTTP 400 Bad Request.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Prevents queue hoarding, multi-counter spamming, and false wait-time inflation across campus.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4023360"/>
            <a:ext cx="5175504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4187952"/>
            <a:ext cx="47183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5CF6"/>
                </a:solidFill>
                <a:latin typeface="Segoe UI"/>
              </a:rPr>
              <a:t>State Machine: Ticket Lifecycle Transitions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WAITING: Initial state upon joining; position assigned and countdown active.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CALLED: Counter operator clicks 'Call Next'; ticket highlighted, audio/visual notification sent.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SERVING: Student reaches counter; counter operator starts processing request.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COMPLETED / SKIPPED / CANCELLED: Terminal states; position cleared, wait times recalculated for successors.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REAL-TIME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Real-Time WebSocket Architecture (Socket.IO)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QueueLess — Smart Virtual Queue Management System  |  Full-Stack Project Presentation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Slide 12 of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BDF8"/>
                </a:solidFill>
                <a:latin typeface="Segoe UI"/>
              </a:rPr>
              <a:t>⚡ Event-Driven Bi-Directional Synchronization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10B981"/>
                </a:solidFill>
                <a:latin typeface="Segoe UI"/>
              </a:rPr>
              <a:t>• Why WebSockets over HTTP Polling?: </a:t>
            </a:r>
            <a:r>
              <a:rPr sz="1050">
                <a:solidFill>
                  <a:srgbClr val="F8FAFC"/>
                </a:solidFill>
                <a:latin typeface="Segoe UI"/>
              </a:rPr>
              <a:t>Traditional HTTP polling creates severe server load, redundant DB hits, and latency delays. Socket.IO maintains a persistent full-duplex TCP connection, pushing events instantaneously (&lt;15ms) only when state changes occur.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10B981"/>
                </a:solidFill>
                <a:latin typeface="Segoe UI"/>
              </a:rPr>
              <a:t>• Event 1: 'joinQueue': </a:t>
            </a:r>
            <a:r>
              <a:rPr sz="1050">
                <a:solidFill>
                  <a:srgbClr val="F8FAFC"/>
                </a:solidFill>
                <a:latin typeface="Segoe UI"/>
              </a:rPr>
              <a:t>Triggered when a student registers for a service. Client emits 'joinQueue' payload; server notifies all listening counter staff consoles with 'queueUpdated' to refresh their pending queue count.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10B981"/>
                </a:solidFill>
                <a:latin typeface="Segoe UI"/>
              </a:rPr>
              <a:t>• Event 2: 'tokenCalled': </a:t>
            </a:r>
            <a:r>
              <a:rPr sz="1050">
                <a:solidFill>
                  <a:srgbClr val="F8FAFC"/>
                </a:solidFill>
                <a:latin typeface="Segoe UI"/>
              </a:rPr>
              <a:t>When staff operator clicks 'Call Next Token', the server broadcasts 'tokenCalled' to all clients. The student's device immediately receives an audible chime and banner alert: 'Your token CERT-005 is now being called at Counter 2!'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10B981"/>
                </a:solidFill>
                <a:latin typeface="Segoe UI"/>
              </a:rPr>
              <a:t>• Event 3: 'queueUpdated': </a:t>
            </a:r>
            <a:r>
              <a:rPr sz="1050">
                <a:solidFill>
                  <a:srgbClr val="F8FAFC"/>
                </a:solidFill>
                <a:latin typeface="Segoe UI"/>
              </a:rPr>
              <a:t>Broadcasts whenever a ticket is completed, skipped, or cancelled. Every waiting student's screen recalculates their queue position (-1) and reduces their estimated wait minutes dynamically without page reload.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10B981"/>
                </a:solidFill>
                <a:latin typeface="Segoe UI"/>
              </a:rPr>
              <a:t>• Connection Resiliency: </a:t>
            </a:r>
            <a:r>
              <a:rPr sz="1050">
                <a:solidFill>
                  <a:srgbClr val="F8FAFC"/>
                </a:solidFill>
                <a:latin typeface="Segoe UI"/>
              </a:rPr>
              <a:t>Configured with automatic reconnection, heartbeat ping/pong intervals, and fallback transport mechanisms (WebSocket -&gt; HTTP Long Polling) to ensure 99.9% mobile connectivity.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Security, Authentication &amp; Role-Based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QueueLess — Smart Virtual Queue Management System  |  Full-Stack Project Presentation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Slide 13 of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75504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47183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1. JWT Authentication Pipeline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Stateless token generation using jsonwebtoken.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Payload encodes user ID, institutional role, and email.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Configured with 30-day expiry (JWT_EXPIRES_IN=30d).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Stored in HTTP-Only, SameSite secure browser cookies to eliminate XSS token theft.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00200"/>
            <a:ext cx="5175504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764792"/>
            <a:ext cx="47183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Segoe UI"/>
              </a:rPr>
              <a:t>2. Password Cryptography (Bcrypt)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Mongoose pre('save') middleware automatically detects password modifications.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Hashes raw credentials using bcrypt with 12 salt rounds.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Schema includes select: false to prevent accidental hash exposure in DB queries.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Instance method correctPassword() handles secure constant-time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175504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87952"/>
            <a:ext cx="47183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Segoe UI"/>
              </a:rPr>
              <a:t>3. Role-Based Access Control (RBAC)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Hierarchical permissions: USER (Student) -&gt; STAFF (Operator) -&gt; ADMIN (Administrator).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restrictTo('STAFF', 'ADMIN') guards queue management and counter actions.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restrictTo('ADMIN') strictly protects service creation, editing, and deletion.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Unauthorized attempts trigger immediate HTTP 403 Forbidden responses.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4023360"/>
            <a:ext cx="5175504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4187952"/>
            <a:ext cx="47183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5CF6"/>
                </a:solidFill>
                <a:latin typeface="Segoe UI"/>
              </a:rPr>
              <a:t>4. Infrastructure &amp; HTTP Hardening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Helmet middleware automatically sets HTTP security headers (CSP, HSTS, X-Frame-Options).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CORS whitelist config prevents unauthorized cross-origin requests.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Centralized AppError and globalErrorHandler prevent leaking stack traces in production.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Input sanitization guards against NoSQL query injection.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API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RESTful API Endpoints &amp; Contract Specifications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QueueLess — Smart Virtual Queue Management System  |  Full-Stack Project Presentation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Slide 14 of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926080"/>
                <a:gridCol w="1645920"/>
                <a:gridCol w="3596335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METHOD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ENDPOINT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ACCESS LEVEL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DESCRIPTION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8BDF8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8BDF8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Consolas"/>
                        </a:rPr>
                        <a:t>/api/auth/register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Segoe UI"/>
                        </a:rPr>
                        <a:t>Public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Segoe UI"/>
                        </a:rPr>
                        <a:t>Register new student/staff account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  <a:latin typeface="Segoe UI"/>
                        </a:rPr>
                        <a:t>201 Created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8BDF8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Consolas"/>
                        </a:rPr>
                        <a:t>/api/auth/login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Segoe UI"/>
                        </a:rPr>
                        <a:t>Public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Segoe UI"/>
                        </a:rPr>
                        <a:t>Authenticate credentials &amp; issue JWT cookie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  <a:latin typeface="Segoe UI"/>
                        </a:rPr>
                        <a:t>200 OK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Consolas"/>
                        </a:rPr>
                        <a:t>/api/auth/me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Segoe UI"/>
                        </a:rPr>
                        <a:t>Authenticated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Segoe UI"/>
                        </a:rPr>
                        <a:t>Retrieve active user profile and role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  <a:latin typeface="Segoe UI"/>
                        </a:rPr>
                        <a:t>200 OK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Consolas"/>
                        </a:rPr>
                        <a:t>/api/services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Segoe UI"/>
                        </a:rPr>
                        <a:t>Public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Segoe UI"/>
                        </a:rPr>
                        <a:t>Fetch all available administrative desks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  <a:latin typeface="Segoe UI"/>
                        </a:rPr>
                        <a:t>200 OK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8BDF8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Consolas"/>
                        </a:rPr>
                        <a:t>/api/services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Segoe UI"/>
                        </a:rPr>
                        <a:t>Create a new service counter &amp; set prefix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  <a:latin typeface="Segoe UI"/>
                        </a:rPr>
                        <a:t>201 Created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8BDF8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Consolas"/>
                        </a:rPr>
                        <a:t>/api/queues/join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Segoe UI"/>
                        </a:rPr>
                        <a:t>User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Segoe UI"/>
                        </a:rPr>
                        <a:t>Join queue, allocate token, compute wait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  <a:latin typeface="Segoe UI"/>
                        </a:rPr>
                        <a:t>201 Created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  <a:latin typeface="Consolas"/>
                        </a:rPr>
                        <a:t>GET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Consolas"/>
                        </a:rPr>
                        <a:t>/api/queues/my-active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Segoe UI"/>
                        </a:rPr>
                        <a:t>User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Segoe UI"/>
                        </a:rPr>
                        <a:t>Get user's current live token &amp; position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  <a:latin typeface="Segoe UI"/>
                        </a:rPr>
                        <a:t>200 OK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8BDF8"/>
                          </a:solidFill>
                          <a:latin typeface="Consolas"/>
                        </a:rPr>
                        <a:t>POST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Consolas"/>
                        </a:rPr>
                        <a:t>/api/queues/call-next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Segoe UI"/>
                        </a:rPr>
                        <a:t>Staff/Admin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Segoe UI"/>
                        </a:rPr>
                        <a:t>Summon next ticket &amp; complete active 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  <a:latin typeface="Segoe UI"/>
                        </a:rPr>
                        <a:t>200 OK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F4444"/>
                          </a:solidFill>
                          <a:latin typeface="Consolas"/>
                        </a:rPr>
                        <a:t>DELETE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Consolas"/>
                        </a:rPr>
                        <a:t>/api/queues/cancel/:id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Segoe UI"/>
                        </a:rPr>
                        <a:t>User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8FAFC"/>
                          </a:solidFill>
                          <a:latin typeface="Segoe UI"/>
                        </a:rPr>
                        <a:t>Cancel ticket and recalculate line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  <a:latin typeface="Segoe UI"/>
                        </a:rPr>
                        <a:t>200 OK</a:t>
                      </a:r>
                    </a:p>
                  </a:txBody>
                  <a:tcPr>
                    <a:solidFill>
                      <a:srgbClr val="141C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Frontend UI / UX Design &amp; Component Hierarchy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QueueLess — Smart Virtual Queue Management System  |  Full-Stack Project Presentation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Slide 15 of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75504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47183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1. Glassmorphism Design System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Deep dark theme with multi-layered backdrop filters (backdrop-filter: blur(12px)).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CSS Custom Properties (:root) for fluid colors, border-radii, and neon glows.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Subtle gradients and translucent cards create an ultra-modern aesthetic.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Smooth hover states and CSS micro-interactions for high user engagement.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00200"/>
            <a:ext cx="5175504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764792"/>
            <a:ext cx="47183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Segoe UI"/>
              </a:rPr>
              <a:t>2. Student Dashboard &amp; Live Tracker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Shows active ticket with massive typography: e.g., 'YOUR TOKEN: CERT-003'.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Animated progress indicator displaying live position ('2 ahead of you').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Dynamic estimated wait time counter updating in real time via WebSockets.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Instant 'Cancel Ticket' button with modal confirmation dialog.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175504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87952"/>
            <a:ext cx="47183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Segoe UI"/>
              </a:rPr>
              <a:t>3. Counter Operator Console (Staff)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High-contrast control center with prominent 'Call Next' action button.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Current serving ticket display with student ID, name, and joined timestamp.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Upcoming queue table showing the next 10 students in line.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Quick-action buttons for 'Complete Service' or 'Mark No-Show / Skip'.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4023360"/>
            <a:ext cx="5175504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4187952"/>
            <a:ext cx="47183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5CF6"/>
                </a:solidFill>
                <a:latin typeface="Segoe UI"/>
              </a:rPr>
              <a:t>4. Admin Management Console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Metric cards displaying Active Counters, Total Served Today, Avg Wait Times.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Interactive modal for creating new service counters with custom prefixes.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Toggle switches for instant counter status changes (OPEN / CLOSED / PAUSED).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FAFC"/>
                </a:solidFill>
                <a:latin typeface="Segoe UI"/>
              </a:rPr>
              <a:t>• Comprehensive audit table of historical queue tickets.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TESTING &amp;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Testing, Verification &amp; Quality Assurance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QueueLess — Smart Virtual Queue Management System  |  Full-Stack Project Presentation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Slide 16 of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75504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71830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0B981"/>
                </a:solidFill>
                <a:latin typeface="Segoe UI"/>
              </a:rPr>
              <a:t>🧪 Automated Spring Boot Testing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0B981"/>
                </a:solidFill>
                <a:latin typeface="Segoe UI"/>
              </a:rPr>
              <a:t>• JUnit 5 &amp; Mockito Unit Tests: </a:t>
            </a:r>
            <a:r>
              <a:rPr sz="1000">
                <a:solidFill>
                  <a:srgbClr val="F8FAFC"/>
                </a:solidFill>
                <a:latin typeface="Segoe UI"/>
              </a:rPr>
              <a:t>Implemented QueueServiceTest with isolated repository mocks (@Mock and @InjectMocks).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0B981"/>
                </a:solidFill>
                <a:latin typeface="Segoe UI"/>
              </a:rPr>
              <a:t>• Single Ticket Rule Verification: </a:t>
            </a:r>
            <a:r>
              <a:rPr sz="1000">
                <a:solidFill>
                  <a:srgbClr val="F8FAFC"/>
                </a:solidFill>
                <a:latin typeface="Segoe UI"/>
              </a:rPr>
              <a:t>Asserts that QueueException is thrown with message 'You already have an active ticket' when duplicate joins occur.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0B981"/>
                </a:solidFill>
                <a:latin typeface="Segoe UI"/>
              </a:rPr>
              <a:t>• Closed Counter Enforcement: </a:t>
            </a:r>
            <a:r>
              <a:rPr sz="1000">
                <a:solidFill>
                  <a:srgbClr val="F8FAFC"/>
                </a:solidFill>
                <a:latin typeface="Segoe UI"/>
              </a:rPr>
              <a:t>Verifies that joining a desk in PAUSED or CLOSED state throws an immediate QueueException.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0B981"/>
                </a:solidFill>
                <a:latin typeface="Segoe UI"/>
              </a:rPr>
              <a:t>• Wait-Time Math Verification: </a:t>
            </a:r>
            <a:r>
              <a:rPr sz="1000">
                <a:solidFill>
                  <a:srgbClr val="F8FAFC"/>
                </a:solidFill>
                <a:latin typeface="Segoe UI"/>
              </a:rPr>
              <a:t>Tests position calculation and verifies that estimatedWaitMinutes matches formula exactly.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0B981"/>
                </a:solidFill>
                <a:latin typeface="Segoe UI"/>
              </a:rPr>
              <a:t>• Context Loading Test: </a:t>
            </a:r>
            <a:r>
              <a:rPr sz="1000">
                <a:solidFill>
                  <a:srgbClr val="F8FAFC"/>
                </a:solidFill>
                <a:latin typeface="Segoe UI"/>
              </a:rPr>
              <a:t>QueueLessApplicationTests verifies that the entire Spring context and embedded H2 database initialize without errors.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00200"/>
            <a:ext cx="5175504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783080"/>
            <a:ext cx="471830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BDF8"/>
                </a:solidFill>
                <a:latin typeface="Segoe UI"/>
              </a:rPr>
              <a:t>🔍 Integration &amp; Real-Time QA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38BDF8"/>
                </a:solidFill>
                <a:latin typeface="Segoe UI"/>
              </a:rPr>
              <a:t>• API Testing via Postman &amp; cURL: </a:t>
            </a:r>
            <a:r>
              <a:rPr sz="1000">
                <a:solidFill>
                  <a:srgbClr val="F8FAFC"/>
                </a:solidFill>
                <a:latin typeface="Segoe UI"/>
              </a:rPr>
              <a:t>Validated all HTTP status codes: 201 Created, 200 OK, 400 Bad Request, 401 Unauthorized, 403 Forbidden, 404 Not Found.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38BDF8"/>
                </a:solidFill>
                <a:latin typeface="Segoe UI"/>
              </a:rPr>
              <a:t>• WebSocket Concurrency Testing: </a:t>
            </a:r>
            <a:r>
              <a:rPr sz="1000">
                <a:solidFill>
                  <a:srgbClr val="F8FAFC"/>
                </a:solidFill>
                <a:latin typeface="Segoe UI"/>
              </a:rPr>
              <a:t>Connected multiple browser sessions simultaneously to verify zero-latency broadcast of tokenCalled and queueUpdated.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38BDF8"/>
                </a:solidFill>
                <a:latin typeface="Segoe UI"/>
              </a:rPr>
              <a:t>• Token Format Integrity: </a:t>
            </a:r>
            <a:r>
              <a:rPr sz="1000">
                <a:solidFill>
                  <a:srgbClr val="F8FAFC"/>
                </a:solidFill>
                <a:latin typeface="Segoe UI"/>
              </a:rPr>
              <a:t>Tested prefix zero-padding across boundaries (e.g., transition from CERT-009 to CERT-010 and CERT-099 to CERT-100).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38BDF8"/>
                </a:solidFill>
                <a:latin typeface="Segoe UI"/>
              </a:rPr>
              <a:t>• Security Header Verification: </a:t>
            </a:r>
            <a:r>
              <a:rPr sz="1000">
                <a:solidFill>
                  <a:srgbClr val="F8FAFC"/>
                </a:solidFill>
                <a:latin typeface="Segoe UI"/>
              </a:rPr>
              <a:t>Audited HTTP response headers for Helmet protection (X-Content-Type-Options, Strict-Transport-Security).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38BDF8"/>
                </a:solidFill>
                <a:latin typeface="Segoe UI"/>
              </a:rPr>
              <a:t>• Cross-Browser Responsiveness: </a:t>
            </a:r>
            <a:r>
              <a:rPr sz="1000">
                <a:solidFill>
                  <a:srgbClr val="F8FAFC"/>
                </a:solidFill>
                <a:latin typeface="Segoe UI"/>
              </a:rPr>
              <a:t>Verified consistent UI layout on Chrome, Firefox, Safari, and mobile Android/iOS viewport sizes.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Project Results &amp; Measurable Campus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QueueLess — Smart Virtual Queue Management System  |  Full-Stack Project Presentation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Slide 17 of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4688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Segoe UI"/>
              </a:rPr>
              <a:t>85%</a:t>
            </a:r>
          </a:p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Wait Reduction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Students spend 85% less time physically standing in hallway queues.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1600200"/>
            <a:ext cx="24688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304" y="16916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8BDF8"/>
                </a:solidFill>
                <a:latin typeface="Segoe UI"/>
              </a:rPr>
              <a:t>0</a:t>
            </a:r>
          </a:p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Physical Crowds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Completely eliminates hallway congestion outside admin offices.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00200"/>
            <a:ext cx="24688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6916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59E0B"/>
                </a:solidFill>
                <a:latin typeface="Segoe UI"/>
              </a:rPr>
              <a:t>&lt;15ms</a:t>
            </a:r>
          </a:p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Broadcast Speed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Instantaneous live token sync powered by Socket.IO WebSockets.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552" y="1600200"/>
            <a:ext cx="24688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9992" y="16916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8B5CF6"/>
                </a:solidFill>
                <a:latin typeface="Segoe UI"/>
              </a:rPr>
              <a:t>100%</a:t>
            </a:r>
          </a:p>
          <a:p>
            <a:pPr algn="ctr"/>
            <a:r>
              <a:rPr sz="1200" b="1">
                <a:solidFill>
                  <a:srgbClr val="F8FAFC"/>
                </a:solidFill>
                <a:latin typeface="Segoe UI"/>
              </a:rPr>
              <a:t>Audit Traceability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Every token transaction, call, and completion timestamp is archived.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28655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77639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Segoe UI"/>
              </a:rPr>
              <a:t>📈 Strategic Benefits for Campus Operations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Enhanced Student Satisfaction: Students can study in the library, attend lectures, or sit in the cafeteria while retaining their live spot in line.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Staff Work Environment: Administrative operators experience significantly lower stress without aggressive crowds standing directly across the counter desk.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Resource Optimization: Dean &amp; Administrators obtain factual data regarding which counters face peak loads, enabling dynamic staff reassignment.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Eco-Friendly Sustainability: 100% paperless token allocation replaces thermal paper slips, reducing institutional waste.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292608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Future Roadmap &amp; Project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Segoe UI"/>
              </a:rPr>
              <a:t>QueueLess — Smart Virtual Queue Management System  |  Full-Stack Project Presentation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Slide 18 of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75504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71830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BDF8"/>
                </a:solidFill>
                <a:latin typeface="Segoe UI"/>
              </a:rPr>
              <a:t>🚀 Future Roadmap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6B6D4"/>
                </a:solidFill>
                <a:latin typeface="Segoe UI"/>
              </a:rPr>
              <a:t>• SMS &amp; WhatsApp Gateway: </a:t>
            </a:r>
            <a:r>
              <a:rPr sz="1000">
                <a:solidFill>
                  <a:srgbClr val="F8FAFC"/>
                </a:solidFill>
                <a:latin typeface="Segoe UI"/>
              </a:rPr>
              <a:t>Integrate Twilio / WhatsApp Business API to dispatch automated SMS reminders when 2 people remain ahead.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6B6D4"/>
                </a:solidFill>
                <a:latin typeface="Segoe UI"/>
              </a:rPr>
              <a:t>• AI-Powered Wait Prediction: </a:t>
            </a:r>
            <a:r>
              <a:rPr sz="1000">
                <a:solidFill>
                  <a:srgbClr val="F8FAFC"/>
                </a:solidFill>
                <a:latin typeface="Segoe UI"/>
              </a:rPr>
              <a:t>Implement Machine Learning regression to predict service durations based on transaction type, time of day, and historical staff speed.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6B6D4"/>
                </a:solidFill>
                <a:latin typeface="Segoe UI"/>
              </a:rPr>
              <a:t>• Physical QR Scan Kiosks: </a:t>
            </a:r>
            <a:r>
              <a:rPr sz="1000">
                <a:solidFill>
                  <a:srgbClr val="F8FAFC"/>
                </a:solidFill>
                <a:latin typeface="Segoe UI"/>
              </a:rPr>
              <a:t>Deploy physical QR stands at counter doors for visitors without smartphones to print physical QR slips.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6B6D4"/>
                </a:solidFill>
                <a:latin typeface="Segoe UI"/>
              </a:rPr>
              <a:t>• Multi-Campus Cloud Deployment: </a:t>
            </a:r>
            <a:r>
              <a:rPr sz="1000">
                <a:solidFill>
                  <a:srgbClr val="F8FAFC"/>
                </a:solidFill>
                <a:latin typeface="Segoe UI"/>
              </a:rPr>
              <a:t>Containerize via Docker &amp; Kubernetes on AWS/GCP with Redis Pub/Sub for horizontal socket clustering.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6B6D4"/>
                </a:solidFill>
                <a:latin typeface="Segoe UI"/>
              </a:rPr>
              <a:t>• Automated Digital Signage: </a:t>
            </a:r>
            <a:r>
              <a:rPr sz="1000">
                <a:solidFill>
                  <a:srgbClr val="F8FAFC"/>
                </a:solidFill>
                <a:latin typeface="Segoe UI"/>
              </a:rPr>
              <a:t>TV display mode for counter waiting areas showing the currently summoned token numbers with voice synthesis announcements.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00200"/>
            <a:ext cx="5175504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783080"/>
            <a:ext cx="471830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0B981"/>
                </a:solidFill>
                <a:latin typeface="Segoe UI"/>
              </a:rPr>
              <a:t>🏁 Conclusion &amp; Summary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0B981"/>
                </a:solidFill>
                <a:latin typeface="Segoe UI"/>
              </a:rPr>
              <a:t>✔ Comprehensive Solution: </a:t>
            </a:r>
            <a:r>
              <a:rPr sz="1000">
                <a:solidFill>
                  <a:srgbClr val="F8FAFC"/>
                </a:solidFill>
                <a:latin typeface="Segoe UI"/>
              </a:rPr>
              <a:t>QueueLess successfully proves how modern full-stack web technologies can eradicate physical waiting lines in universities and public institutions.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0B981"/>
                </a:solidFill>
                <a:latin typeface="Segoe UI"/>
              </a:rPr>
              <a:t>✔ Engineering Rigor: </a:t>
            </a:r>
            <a:r>
              <a:rPr sz="1000">
                <a:solidFill>
                  <a:srgbClr val="F8FAFC"/>
                </a:solidFill>
                <a:latin typeface="Segoe UI"/>
              </a:rPr>
              <a:t>Demonstrated mastery over two enterprise backend ecosystems (Node.js/Express and Spring Boot 3) coupled with an interactive React 18 SPA.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0B981"/>
                </a:solidFill>
                <a:latin typeface="Segoe UI"/>
              </a:rPr>
              <a:t>✔ Real-Time Excellence: </a:t>
            </a:r>
            <a:r>
              <a:rPr sz="1000">
                <a:solidFill>
                  <a:srgbClr val="F8FAFC"/>
                </a:solidFill>
                <a:latin typeface="Segoe UI"/>
              </a:rPr>
              <a:t>Zero-polling WebSocket communication delivers responsive, real-time user experiences comparable to commercial platforms.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0B981"/>
                </a:solidFill>
                <a:latin typeface="Segoe UI"/>
              </a:rPr>
              <a:t>✔ Industry-Grade Security: </a:t>
            </a:r>
            <a:r>
              <a:rPr sz="1000">
                <a:solidFill>
                  <a:srgbClr val="F8FAFC"/>
                </a:solidFill>
                <a:latin typeface="Segoe UI"/>
              </a:rPr>
              <a:t>Robust security implementation utilizing JWT authentication, Bcrypt password hashing, and role-based access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01384" y="5166360"/>
            <a:ext cx="4718304" cy="7772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AFC"/>
                </a:solidFill>
                <a:latin typeface="Segoe UI"/>
              </a:rPr>
              <a:t>THANK YOU!
</a:t>
            </a:r>
            <a:r>
              <a:rPr sz="1100">
                <a:solidFill>
                  <a:srgbClr val="38BDF8"/>
                </a:solidFill>
                <a:latin typeface="Segoe UI"/>
              </a:rPr>
              <a:t>Questions &amp;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